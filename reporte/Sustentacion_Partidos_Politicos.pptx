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3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4E5F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F4E5F"/>
                </a:solidFill>
                <a:latin typeface="Calibri"/>
              </a:rPr>
              <a:t>Índice de silhouette por número de clusters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Silhouette</c:v>
                </c:pt>
              </c:strCache>
            </c:strRef>
          </c:tx>
          <c:spPr>
            <a:solidFill>
              <a:srgbClr val="9FBAC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2B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FBAC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FBAC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1440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FBAC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FBAC2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FBAC2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9FBAC2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9FBAC2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9FBAC2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k=2</c:v>
                  </c:pt>
                  <c:pt idx="1">
                    <c:v>k=3</c:v>
                  </c:pt>
                  <c:pt idx="2">
                    <c:v>k=4</c:v>
                  </c:pt>
                  <c:pt idx="3">
                    <c:v>k=5</c:v>
                  </c:pt>
                  <c:pt idx="4">
                    <c:v>k=6</c:v>
                  </c:pt>
                  <c:pt idx="5">
                    <c:v>k=7</c:v>
                  </c:pt>
                  <c:pt idx="6">
                    <c:v>k=8</c:v>
                  </c:pt>
                  <c:pt idx="7">
                    <c:v>k=9</c:v>
                  </c:pt>
                  <c:pt idx="8">
                    <c:v>k=10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0.28</c:v>
                </c:pt>
                <c:pt idx="1">
                  <c:v>0.289</c:v>
                </c:pt>
                <c:pt idx="2">
                  <c:v>0.282</c:v>
                </c:pt>
                <c:pt idx="3">
                  <c:v>0.286</c:v>
                </c:pt>
                <c:pt idx="4">
                  <c:v>0.318</c:v>
                </c:pt>
                <c:pt idx="5">
                  <c:v>0.308</c:v>
                </c:pt>
                <c:pt idx="6">
                  <c:v>0.316</c:v>
                </c:pt>
                <c:pt idx="7">
                  <c:v>0.358</c:v>
                </c:pt>
                <c:pt idx="8">
                  <c:v>0.364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2B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727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2"/>
          <c:min val="0"/>
        </c:scaling>
        <c:delete val="0"/>
        <c:axPos val="l"/>
        <c:majorGridlines>
          <c:spPr>
            <a:ln w="12700" cap="flat">
              <a:solidFill>
                <a:srgbClr val="E4EB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27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1F4E5F"/>
                </a:solidFill>
                <a:latin typeface="Calibri"/>
              </a:defRPr>
            </a:pPr>
            <a:r>
              <a:rPr sz="1250" b="0" i="0" u="none" strike="noStrike">
                <a:solidFill>
                  <a:srgbClr val="1F4E5F"/>
                </a:solidFill>
                <a:latin typeface="Calibri"/>
              </a:rPr>
              <a:t>Importancia relativa (rango invertido, más alto = más importante)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 de Cramér (univariada)</c:v>
                </c:pt>
              </c:strCache>
            </c:strRef>
          </c:tx>
          <c:spPr>
            <a:solidFill>
              <a:srgbClr val="2E6B7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part_presid.</c:v>
                  </c:pt>
                  <c:pt idx="1">
                    <c:v>ideologia</c:v>
                  </c:pt>
                  <c:pt idx="2">
                    <c:v>grupo_rep_2</c:v>
                  </c:pt>
                  <c:pt idx="3">
                    <c:v>grupo_rep_1</c:v>
                  </c:pt>
                  <c:pt idx="4">
                    <c:v>gradonac</c:v>
                  </c:pt>
                  <c:pt idx="5">
                    <c:v>part_senado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</c:v>
                </c:pt>
                <c:pt idx="1">
                  <c:v>11</c:v>
                </c:pt>
                <c:pt idx="2">
                  <c:v>10</c:v>
                </c:pt>
                <c:pt idx="3">
                  <c:v>9</c:v>
                </c:pt>
                <c:pt idx="4">
                  <c:v>8</c:v>
                </c:pt>
                <c:pt idx="5">
                  <c:v>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Random Forest (multivariada)</c:v>
                </c:pt>
              </c:strCache>
            </c:strRef>
          </c:tx>
          <c:spPr>
            <a:solidFill>
              <a:srgbClr val="C1440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part_presid.</c:v>
                  </c:pt>
                  <c:pt idx="1">
                    <c:v>ideologia</c:v>
                  </c:pt>
                  <c:pt idx="2">
                    <c:v>grupo_rep_2</c:v>
                  </c:pt>
                  <c:pt idx="3">
                    <c:v>grupo_rep_1</c:v>
                  </c:pt>
                  <c:pt idx="4">
                    <c:v>gradonac</c:v>
                  </c:pt>
                  <c:pt idx="5">
                    <c:v>part_senado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</c:v>
                </c:pt>
                <c:pt idx="1">
                  <c:v>10</c:v>
                </c:pt>
                <c:pt idx="2">
                  <c:v>11</c:v>
                </c:pt>
                <c:pt idx="3">
                  <c:v>12</c:v>
                </c:pt>
                <c:pt idx="4">
                  <c:v>9</c:v>
                </c:pt>
                <c:pt idx="5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C727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A2B3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1F4E5F"/>
                </a:solidFill>
                <a:latin typeface="Calibri"/>
              </a:defRPr>
            </a:pPr>
            <a:r>
              <a:rPr sz="1250" b="0" i="0" u="none" strike="noStrike">
                <a:solidFill>
                  <a:srgbClr val="1F4E5F"/>
                </a:solidFill>
                <a:latin typeface="Calibri"/>
              </a:rPr>
              <a:t>Composición del segundo nivel por periodo de fundación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Institucionalizado</c:v>
                </c:pt>
              </c:strCache>
            </c:strRef>
          </c:tx>
          <c:spPr>
            <a:solidFill>
              <a:srgbClr val="C1440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Antes de
1991</c:v>
                  </c:pt>
                  <c:pt idx="1">
                    <c:v>1991–2003
(Const. 91)</c:v>
                  </c:pt>
                  <c:pt idx="2">
                    <c:v>2003–2011
(AL 01/2003)</c:v>
                  </c:pt>
                  <c:pt idx="3">
                    <c:v>2011–2023
(Ley 1475)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</c:v>
                </c:pt>
                <c:pt idx="1">
                  <c:v>14.4</c:v>
                </c:pt>
                <c:pt idx="2">
                  <c:v>2.8</c:v>
                </c:pt>
                <c:pt idx="3">
                  <c:v>1.2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Nicho</c:v>
                </c:pt>
              </c:strCache>
            </c:strRef>
          </c:tx>
          <c:spPr>
            <a:solidFill>
              <a:srgbClr val="2E6B7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Antes de
1991</c:v>
                  </c:pt>
                  <c:pt idx="1">
                    <c:v>1991–2003
(Const. 91)</c:v>
                  </c:pt>
                  <c:pt idx="2">
                    <c:v>2003–2011
(AL 01/2003)</c:v>
                  </c:pt>
                  <c:pt idx="3">
                    <c:v>2011–2023
(Ley 1475)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2.2</c:v>
                </c:pt>
                <c:pt idx="1">
                  <c:v>5.1</c:v>
                </c:pt>
                <c:pt idx="2">
                  <c:v>7.1</c:v>
                </c:pt>
                <c:pt idx="3">
                  <c:v>13.1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 institucionalizado</c:v>
                </c:pt>
              </c:strCache>
            </c:strRef>
          </c:tx>
          <c:spPr>
            <a:solidFill>
              <a:srgbClr val="C7D8D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Antes de
1991</c:v>
                  </c:pt>
                  <c:pt idx="1">
                    <c:v>1991–2003
(Const. 91)</c:v>
                  </c:pt>
                  <c:pt idx="2">
                    <c:v>2003–2011
(AL 01/2003)</c:v>
                  </c:pt>
                  <c:pt idx="3">
                    <c:v>2011–2023
(Ley 1475)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87.8</c:v>
                </c:pt>
                <c:pt idx="1">
                  <c:v>80.5</c:v>
                </c:pt>
                <c:pt idx="2">
                  <c:v>90.1</c:v>
                </c:pt>
                <c:pt idx="3">
                  <c:v>85.7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5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27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1A2B3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8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669280" cy="5669280"/>
          </a:xfrm>
          <a:prstGeom prst="ellipse">
            <a:avLst/>
          </a:prstGeom>
          <a:solidFill>
            <a:srgbClr val="1F4E5F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2E6B7E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54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9F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APRENDIZAJE DE MÁQUINAS Y POLÍTICAS PÚBLICAS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05740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Más allá de la ideología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Tipologías empíricas de los partidos y movimientos políticos</a:t>
            </a:r>
            <a:endParaRPr lang="en-US" sz="2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colombianos (1848–2023)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4937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Andrez Felipe Guerrero Torres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5303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Bogotá Summer School in Economics 2026 · Pontificia Universidad Javeriana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51560" y="73152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agrupa realmente al sistema de partidos colombiano?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1560" y="1691640"/>
            <a:ext cx="10058400" cy="1600200"/>
          </a:xfrm>
          <a:prstGeom prst="roundRect">
            <a:avLst>
              <a:gd name="adj" fmla="val 4571"/>
            </a:avLst>
          </a:prstGeom>
          <a:solidFill>
            <a:srgbClr val="DCE9EC"/>
          </a:solidFill>
          <a:ln/>
          <a:effectLst>
            <a:outerShdw sx="100000" sy="100000" kx="0" ky="0" algn="bl" rotWithShape="0" blurRad="101600" dist="38100" dir="5400000">
              <a:srgbClr val="6B7B7F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25880" y="1965960"/>
            <a:ext cx="548640" cy="548640"/>
          </a:xfrm>
          <a:prstGeom prst="ellipse">
            <a:avLst/>
          </a:prstGeom>
          <a:solidFill>
            <a:srgbClr val="2E6B7E"/>
          </a:solidFill>
          <a:ln/>
        </p:spPr>
      </p:sp>
      <p:sp>
        <p:nvSpPr>
          <p:cNvPr id="6" name="Text 4"/>
          <p:cNvSpPr/>
          <p:nvPr/>
        </p:nvSpPr>
        <p:spPr>
          <a:xfrm>
            <a:off x="132588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148840" y="1874520"/>
            <a:ext cx="8686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i="1" dirty="0">
                <a:solidFill>
                  <a:srgbClr val="1A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grupos o patrones de partidos y movimientos políticos colombianos pueden identificarse mediante técnicas de aprendizaje no supervisado, entre 1848 y 2023?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51560" y="3566160"/>
            <a:ext cx="457200" cy="457200"/>
          </a:xfrm>
          <a:prstGeom prst="ellipse">
            <a:avLst/>
          </a:prstGeom>
          <a:solidFill>
            <a:srgbClr val="1F4E5F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91640" y="35204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ideología no alcanza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532120" y="352044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~40% de los partidos no tiene ideología clasificable, y esa ausencia es igual de alta en la élite exitosa que en los marginales.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51560" y="4434840"/>
            <a:ext cx="457200" cy="457200"/>
          </a:xfrm>
          <a:prstGeom prst="ellipse">
            <a:avLst/>
          </a:prstGeom>
          <a:solidFill>
            <a:srgbClr val="1F4E5F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91640" y="43891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literatura ofrece ejes mejores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532120" y="438912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Institucionalización (Panebianco 1988), nacionalización (Jones &amp; Mainwaring 2003) y nicho (Meguid 2005).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051560" y="5303520"/>
            <a:ext cx="457200" cy="457200"/>
          </a:xfrm>
          <a:prstGeom prst="ellipse">
            <a:avLst/>
          </a:prstGeom>
          <a:solidFill>
            <a:srgbClr val="1F4E5F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5303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91640" y="52578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es de política pública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532120" y="525780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Reformas de 2003 y 2011 buscaron frenar la proliferación de “partidos de garaje” — ¿lo lograron?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38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840480"/>
            <a:ext cx="5486400" cy="5486400"/>
          </a:xfrm>
          <a:prstGeom prst="ellipse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01168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144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20040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Explicación de los datos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39776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Fuentes, calidad y transformaciones antes del modelo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DATOS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51560" y="73152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fuentes complementarias del CEDE, Uniandes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1560" y="1691640"/>
            <a:ext cx="4892040" cy="4160520"/>
          </a:xfrm>
          <a:prstGeom prst="roundRect">
            <a:avLst>
              <a:gd name="adj" fmla="val 1758"/>
            </a:avLst>
          </a:prstGeom>
          <a:solidFill>
            <a:srgbClr val="DCE9EC"/>
          </a:solidFill>
          <a:ln/>
          <a:effectLst>
            <a:outerShdw sx="100000" sy="100000" kx="0" ky="0" algn="bl" rotWithShape="0" blurRad="101600" dist="38100" dir="5400000">
              <a:srgbClr val="6B7B7F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25880" y="196596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1F4E5F"/>
          </a:solidFill>
          <a:ln/>
        </p:spPr>
      </p:sp>
      <p:sp>
        <p:nvSpPr>
          <p:cNvPr id="6" name="Text 4"/>
          <p:cNvSpPr/>
          <p:nvPr/>
        </p:nvSpPr>
        <p:spPr>
          <a:xfrm>
            <a:off x="132588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148840" y="20116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4E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partidos.xlsx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325880" y="26974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Cabra-Ruíz, Torres, Wills-Otero &amp;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5C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Castilla-Gutiérrez (2023)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25880" y="33832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44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5.143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743200" y="3383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partidos, movimientos y coaliciones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325880" y="3977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44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743200" y="3977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(25 del diccionario oficial + 2)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325880" y="45720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44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1848–2022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743200" y="45720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periodo cubierto (campo temporalidad)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325880" y="5166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44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743200" y="5166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las filas son coaliciones ad hoc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63640" y="1691640"/>
            <a:ext cx="4892040" cy="4160520"/>
          </a:xfrm>
          <a:prstGeom prst="roundRect">
            <a:avLst>
              <a:gd name="adj" fmla="val 1758"/>
            </a:avLst>
          </a:prstGeom>
          <a:solidFill>
            <a:srgbClr val="DCE9EC"/>
          </a:solidFill>
          <a:ln/>
          <a:effectLst>
            <a:outerShdw sx="100000" sy="100000" kx="0" ky="0" algn="bl" rotWithShape="0" blurRad="101600" dist="38100" dir="5400000">
              <a:srgbClr val="6B7B7F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37960" y="196596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2E6B7E"/>
          </a:solidFill>
          <a:ln/>
        </p:spPr>
      </p:sp>
      <p:sp>
        <p:nvSpPr>
          <p:cNvPr id="19" name="Text 17"/>
          <p:cNvSpPr/>
          <p:nvPr/>
        </p:nvSpPr>
        <p:spPr>
          <a:xfrm>
            <a:off x="653796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360920" y="20116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6B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electorales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537960" y="26974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Torres, Barinas-Forero, Forero-Mesa,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5C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Sánchez &amp; Tibavisco (2023)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37960" y="33832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44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1958–2023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138160" y="33832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candidato-municipio-elección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537960" y="3977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44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niveles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138160" y="39776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alcaldía a presidencia (1ª/2ª vuelta)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537960" y="45720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44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~130 archivos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138160" y="45720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~2,5 GB, no incluidos en el repo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537960" y="5166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44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80,6%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8138160" y="51663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votos no-coalición emparejados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DATOS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51560" y="73152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Preparar los datos: dos errores corregidos, tres decisiones clave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1560" y="1783080"/>
            <a:ext cx="10058400" cy="1234440"/>
          </a:xfrm>
          <a:prstGeom prst="roundRect">
            <a:avLst>
              <a:gd name="adj" fmla="val 5926"/>
            </a:avLst>
          </a:prstGeom>
          <a:solidFill>
            <a:srgbClr val="FBEDE8"/>
          </a:solidFill>
          <a:ln/>
          <a:effectLst>
            <a:outerShdw sx="100000" sy="100000" kx="0" ky="0" algn="bl" rotWithShape="0" blurRad="101600" dist="38100" dir="5400000">
              <a:srgbClr val="6B7B7F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80160" y="2002536"/>
            <a:ext cx="548640" cy="548640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20025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057400" y="1892808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Códigos centinela como categorías propias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057400" y="2258568"/>
            <a:ext cx="8823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gradonac y grupo_representativo_1/2 usan 98/99 (hasta 98,6% de los casos). Se corrigió: imputarlos con la moda fabricaba una variable casi constante que dominaba la distancia euclídea.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51560" y="3200400"/>
            <a:ext cx="10058400" cy="1234440"/>
          </a:xfrm>
          <a:prstGeom prst="roundRect">
            <a:avLst>
              <a:gd name="adj" fmla="val 5926"/>
            </a:avLst>
          </a:prstGeom>
          <a:solidFill>
            <a:srgbClr val="FBEDE8"/>
          </a:solidFill>
          <a:ln/>
          <a:effectLst>
            <a:outerShdw sx="100000" sy="100000" kx="0" ky="0" algn="bl" rotWithShape="0" blurRad="101600" dist="38100" dir="5400000">
              <a:srgbClr val="6B7B7F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280160" y="3419856"/>
            <a:ext cx="548640" cy="548640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34198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057400" y="3310128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Codificación dummy simétrica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057400" y="3675888"/>
            <a:ext cx="8823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model.matrix(~.-1,...) daba el doble de peso a la primera variable por un efecto conocido de R. Se corrigió construyendo la matriz con intercepto y descartándolo después.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051560" y="4617720"/>
            <a:ext cx="10058400" cy="1234440"/>
          </a:xfrm>
          <a:prstGeom prst="roundRect">
            <a:avLst>
              <a:gd name="adj" fmla="val 5926"/>
            </a:avLst>
          </a:prstGeom>
          <a:solidFill>
            <a:srgbClr val="DCE9EC"/>
          </a:solidFill>
          <a:ln/>
          <a:effectLst>
            <a:outerShdw sx="100000" sy="100000" kx="0" ky="0" algn="bl" rotWithShape="0" blurRad="101600" dist="38100" dir="5400000">
              <a:srgbClr val="6B7B7F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280160" y="4837176"/>
            <a:ext cx="548640" cy="548640"/>
          </a:xfrm>
          <a:prstGeom prst="ellipse">
            <a:avLst/>
          </a:prstGeom>
          <a:solidFill>
            <a:srgbClr val="2E6B7E"/>
          </a:solidFill>
          <a:ln/>
        </p:spPr>
      </p:sp>
      <p:sp>
        <p:nvSpPr>
          <p:cNvPr id="16" name="Text 14"/>
          <p:cNvSpPr/>
          <p:nvPr/>
        </p:nvSpPr>
        <p:spPr>
          <a:xfrm>
            <a:off x="1280160" y="48371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057400" y="4727448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Estandarización y log(1+votos)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057400" y="5093208"/>
            <a:ext cx="8823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variables dummy se centran y escalan (media 0, sd 1); los votos —fuertemente sesgados— se transforman con log1p antes de estandarizar.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38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840480"/>
            <a:ext cx="5486400" cy="5486400"/>
          </a:xfrm>
          <a:prstGeom prst="ellipse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01168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144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20040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Metodología empleada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39776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y la elección de sus hiperparámetros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K-MEANS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51560" y="73152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 K-Means, y con qué hiperparámetros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1560" y="1691640"/>
            <a:ext cx="4892040" cy="4160520"/>
          </a:xfrm>
          <a:prstGeom prst="roundRect">
            <a:avLst>
              <a:gd name="adj" fmla="val 1758"/>
            </a:avLst>
          </a:prstGeom>
          <a:solidFill>
            <a:srgbClr val="DCE9EC"/>
          </a:solidFill>
          <a:ln/>
          <a:effectLst>
            <a:outerShdw sx="100000" sy="100000" kx="0" ky="0" algn="bl" rotWithShape="0" blurRad="101600" dist="38100" dir="5400000">
              <a:srgbClr val="6B7B7F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25880" y="19202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K-Means?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325880" y="2523744"/>
            <a:ext cx="109728" cy="109728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7" name="Text 5"/>
          <p:cNvSpPr/>
          <p:nvPr/>
        </p:nvSpPr>
        <p:spPr>
          <a:xfrm>
            <a:off x="1600200" y="2395728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variable de “tipo de partido” etiquetada — se descarta cualquier método supervisado.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325880" y="3300984"/>
            <a:ext cx="109728" cy="109728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9" name="Text 7"/>
          <p:cNvSpPr/>
          <p:nvPr/>
        </p:nvSpPr>
        <p:spPr>
          <a:xfrm>
            <a:off x="1600200" y="3172968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Escala: 5.143 observaciones hacen inviable el clustering jerárquico (matriz n×n).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325880" y="4078224"/>
            <a:ext cx="109728" cy="109728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11" name="Text 9"/>
          <p:cNvSpPr/>
          <p:nvPr/>
        </p:nvSpPr>
        <p:spPr>
          <a:xfrm>
            <a:off x="1600200" y="3950208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dummy + distancia euclídea: DBSCAN y mezclas gaussianas asumen densidad/covarianza poco naturales aquí.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325880" y="4855464"/>
            <a:ext cx="109728" cy="109728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13" name="Text 11"/>
          <p:cNvSpPr/>
          <p:nvPr/>
        </p:nvSpPr>
        <p:spPr>
          <a:xfrm>
            <a:off x="1600200" y="4727448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Admite criterios objetivos para justificar k: codo, silhouette, Calinski-Harabasz.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63640" y="1691640"/>
            <a:ext cx="4892040" cy="4160520"/>
          </a:xfrm>
          <a:prstGeom prst="roundRect">
            <a:avLst>
              <a:gd name="adj" fmla="val 1758"/>
            </a:avLst>
          </a:prstGeom>
          <a:solidFill>
            <a:srgbClr val="1F4E5F"/>
          </a:solidFill>
          <a:ln/>
          <a:effectLst>
            <a:outerShdw sx="100000" sy="100000" kx="0" ky="0" algn="bl" rotWithShape="0" blurRad="101600" dist="38100" dir="5400000">
              <a:srgbClr val="6B7B7F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37960" y="19202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Hiperparámetros del modelo final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537960" y="25146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26680" y="2514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144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144000" y="25146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de clusters (nivel 1)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537960" y="313639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nstart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726680" y="313639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144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144000" y="313639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inicializaciones aleatorias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537960" y="3758184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iter.max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26680" y="375818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144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1.000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144000" y="3758184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iteraciones máximas por corrida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537960" y="4379976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726680" y="4379976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144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20260706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144000" y="4379976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semilla, para reproducibilidad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537960" y="507492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9F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nstart=100, la partición converge de forma estable a la misma solución sustantiva sin importar la semilla exacta.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K-MEANS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51560" y="73152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Selección de k: equilibrio entre criterio y comunicabilidad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1051560" y="1737360"/>
          <a:ext cx="66751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001000" y="1737360"/>
            <a:ext cx="3154680" cy="1874520"/>
          </a:xfrm>
          <a:prstGeom prst="roundRect">
            <a:avLst>
              <a:gd name="adj" fmla="val 3902"/>
            </a:avLst>
          </a:prstGeom>
          <a:solidFill>
            <a:srgbClr val="FBEDE8"/>
          </a:solidFill>
          <a:ln/>
          <a:effectLst>
            <a:outerShdw sx="100000" sy="100000" kx="0" ky="0" algn="bl" rotWithShape="0" blurRad="101600" dist="38100" dir="5400000">
              <a:srgbClr val="6B7B7F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0" y="18745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Calinski-Harabasz favorece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k=2 (914)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0" y="246888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mientras el silhouette crece casi monótonamente hasta k=10 — desacuerdo típico en datos dummy de alta dimensionalidad.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8001000" y="3794760"/>
            <a:ext cx="3154680" cy="2103120"/>
          </a:xfrm>
          <a:prstGeom prst="roundRect">
            <a:avLst>
              <a:gd name="adj" fmla="val 3478"/>
            </a:avLst>
          </a:prstGeom>
          <a:solidFill>
            <a:srgbClr val="1F4E5F"/>
          </a:solidFill>
          <a:ln/>
          <a:effectLst>
            <a:outerShdw sx="100000" sy="100000" kx="0" ky="0" algn="bl" rotWithShape="0" blurRad="101600" dist="38100" dir="5400000">
              <a:srgbClr val="6B7B7F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229600" y="3931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eligió k = 4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29600" y="4343400"/>
            <a:ext cx="2743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comparable a k=2–3, y sobre todo una partición sustantivamente interpretable frente a soluciones de k más alto, difíciles de comunicar con claridad.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K-MEANS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51560" y="73152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Resultado: cuatro perfiles empíricos de partidos</a:t>
            </a:r>
            <a:endParaRPr lang="en-US" sz="3000" dirty="0"/>
          </a:p>
        </p:txBody>
      </p:sp>
      <p:pic>
        <p:nvPicPr>
          <p:cNvPr id="4" name="Image 0" descr="/Users/andrezconz/Library/Mobile Documents/com~apple~CloudDocs/Files/Uniandes/MECA/AM Sector Público/curso-machine-learning-2026-main/Entrega Final/repositorio_github/figuras/fig2_pca_clust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691640"/>
            <a:ext cx="5074920" cy="36210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534924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proyectados sobre PCA (ilustrativo; el modelo corrió sobre las variables originales)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400800" y="1691640"/>
            <a:ext cx="4754880" cy="923544"/>
          </a:xfrm>
          <a:prstGeom prst="roundRect">
            <a:avLst>
              <a:gd name="adj" fmla="val 7921"/>
            </a:avLst>
          </a:prstGeom>
          <a:solidFill>
            <a:srgbClr val="1F4E5F"/>
          </a:solidFill>
          <a:ln/>
        </p:spPr>
      </p:sp>
      <p:sp>
        <p:nvSpPr>
          <p:cNvPr id="7" name="Text 4"/>
          <p:cNvSpPr/>
          <p:nvPr/>
        </p:nvSpPr>
        <p:spPr>
          <a:xfrm>
            <a:off x="6583680" y="1746504"/>
            <a:ext cx="54864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44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223760" y="1746504"/>
            <a:ext cx="265176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Institucionalizados y nacionalizados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921240" y="1746504"/>
            <a:ext cx="105156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144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1,8%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6400800" y="2852928"/>
            <a:ext cx="4754880" cy="923544"/>
          </a:xfrm>
          <a:prstGeom prst="roundRect">
            <a:avLst>
              <a:gd name="adj" fmla="val 7921"/>
            </a:avLst>
          </a:prstGeom>
          <a:solidFill>
            <a:srgbClr val="DCE9EC"/>
          </a:solidFill>
          <a:ln/>
        </p:spPr>
      </p:sp>
      <p:sp>
        <p:nvSpPr>
          <p:cNvPr id="11" name="Text 8"/>
          <p:cNvSpPr/>
          <p:nvPr/>
        </p:nvSpPr>
        <p:spPr>
          <a:xfrm>
            <a:off x="6583680" y="2907792"/>
            <a:ext cx="54864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6B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223760" y="2907792"/>
            <a:ext cx="265176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institucionalizados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9921240" y="2907792"/>
            <a:ext cx="105156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F4E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39,4%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6400800" y="4014216"/>
            <a:ext cx="4754880" cy="923544"/>
          </a:xfrm>
          <a:prstGeom prst="roundRect">
            <a:avLst>
              <a:gd name="adj" fmla="val 7921"/>
            </a:avLst>
          </a:prstGeom>
          <a:solidFill>
            <a:srgbClr val="DCE9EC"/>
          </a:solidFill>
          <a:ln/>
        </p:spPr>
      </p:sp>
      <p:sp>
        <p:nvSpPr>
          <p:cNvPr id="15" name="Text 12"/>
          <p:cNvSpPr/>
          <p:nvPr/>
        </p:nvSpPr>
        <p:spPr>
          <a:xfrm>
            <a:off x="6583680" y="4069080"/>
            <a:ext cx="54864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6B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7223760" y="4069080"/>
            <a:ext cx="265176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Ideológicos locales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9921240" y="4069080"/>
            <a:ext cx="105156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F4E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37,6%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6400800" y="5175504"/>
            <a:ext cx="4754880" cy="923544"/>
          </a:xfrm>
          <a:prstGeom prst="roundRect">
            <a:avLst>
              <a:gd name="adj" fmla="val 7921"/>
            </a:avLst>
          </a:prstGeom>
          <a:solidFill>
            <a:srgbClr val="DCE9EC"/>
          </a:solidFill>
          <a:ln/>
        </p:spPr>
      </p:sp>
      <p:sp>
        <p:nvSpPr>
          <p:cNvPr id="19" name="Text 16"/>
          <p:cNvSpPr/>
          <p:nvPr/>
        </p:nvSpPr>
        <p:spPr>
          <a:xfrm>
            <a:off x="6583680" y="5230368"/>
            <a:ext cx="54864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6B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7223760" y="5230368"/>
            <a:ext cx="265176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Ideológicos de espectro amplio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9921240" y="5230368"/>
            <a:ext cx="105156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F4E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21,3%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38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840480"/>
            <a:ext cx="5486400" cy="5486400"/>
          </a:xfrm>
          <a:prstGeom prst="ellipse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01168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144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20040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Otras metodologías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39776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estadística, un segundo modelo y chequeos de robustez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VALIDACIÓN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51560" y="73152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¿Las mismas variables importan solas que en conjunto?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1051560" y="1737360"/>
          <a:ext cx="74066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641080" y="1737360"/>
            <a:ext cx="2514600" cy="4206240"/>
          </a:xfrm>
          <a:prstGeom prst="roundRect">
            <a:avLst>
              <a:gd name="adj" fmla="val 2909"/>
            </a:avLst>
          </a:prstGeom>
          <a:solidFill>
            <a:srgbClr val="1F4E5F"/>
          </a:solidFill>
          <a:ln/>
          <a:effectLst>
            <a:outerShdw sx="100000" sy="100000" kx="0" ky="0" algn="bl" rotWithShape="0" blurRad="101600" dist="38100" dir="5400000">
              <a:srgbClr val="6B7B7F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823960" y="192024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mismo dato,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lecturas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823960" y="278892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part_presidencia es la variable más fuerte de forma aislada (V=0,821), pero cae al 5º lugar en Random Forest.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823960" y="416052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9F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información ya está contenida en ideología y grupo representativo — la redundancia que una prueba uno-a-uno no puede detectar.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OTRAS METODOLOGÍAS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51560" y="73152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Cuatro comprobaciones adicionales, no solo una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1560" y="1737360"/>
            <a:ext cx="4709160" cy="2011680"/>
          </a:xfrm>
          <a:prstGeom prst="roundRect">
            <a:avLst>
              <a:gd name="adj" fmla="val 3636"/>
            </a:avLst>
          </a:prstGeom>
          <a:solidFill>
            <a:srgbClr val="DCE9EC"/>
          </a:solidFill>
          <a:ln/>
          <a:effectLst>
            <a:outerShdw sx="100000" sy="100000" kx="0" ky="0" algn="bl" rotWithShape="0" blurRad="101600" dist="38100" dir="5400000">
              <a:srgbClr val="6B7B7F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80160" y="19659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2E6B7E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920240" y="193852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Segundo modelo (votos reales)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2606040"/>
            <a:ext cx="4251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(k=3) sobre 2.155 partidos no-coalición, con votos electorales reales 1958–2023 en vez de participación binaria. Corrobora el hallazgo del nivel 1 con otra fuente de datos.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46520" y="1737360"/>
            <a:ext cx="4709160" cy="2011680"/>
          </a:xfrm>
          <a:prstGeom prst="roundRect">
            <a:avLst>
              <a:gd name="adj" fmla="val 3636"/>
            </a:avLst>
          </a:prstGeom>
          <a:solidFill>
            <a:srgbClr val="DCE9EC"/>
          </a:solidFill>
          <a:ln/>
          <a:effectLst>
            <a:outerShdw sx="100000" sy="100000" kx="0" ky="0" algn="bl" rotWithShape="0" blurRad="101600" dist="38100" dir="5400000">
              <a:srgbClr val="6B7B7F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75120" y="19659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2E6B7E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0" y="193852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Longevidad organizativa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75120" y="2606040"/>
            <a:ext cx="4251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Años entre fundación y último registro — variable que NO participó en el clustering. Institucionalizados: 13,3 años promedio vs. 0,5–0,8 en el resto.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51560" y="3977640"/>
            <a:ext cx="4709160" cy="2011680"/>
          </a:xfrm>
          <a:prstGeom prst="roundRect">
            <a:avLst>
              <a:gd name="adj" fmla="val 3636"/>
            </a:avLst>
          </a:prstGeom>
          <a:solidFill>
            <a:srgbClr val="DCE9EC"/>
          </a:solidFill>
          <a:ln/>
          <a:effectLst>
            <a:outerShdw sx="100000" sy="100000" kx="0" ky="0" algn="bl" rotWithShape="0" blurRad="101600" dist="38100" dir="5400000">
              <a:srgbClr val="6B7B7F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280160" y="420624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2E6B7E"/>
          </a:solidFill>
          <a:ln/>
        </p:spPr>
      </p:sp>
      <p:sp>
        <p:nvSpPr>
          <p:cNvPr id="16" name="Text 14"/>
          <p:cNvSpPr/>
          <p:nvPr/>
        </p:nvSpPr>
        <p:spPr>
          <a:xfrm>
            <a:off x="128016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920240" y="417880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t-SNE (proyección no lineal)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4846320"/>
            <a:ext cx="4251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 el PCA; revela decenas de perfiles categóricos idénticos que el modelo agrupa de forma sustantiva, no arbitraria.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46520" y="3977640"/>
            <a:ext cx="4709160" cy="2011680"/>
          </a:xfrm>
          <a:prstGeom prst="roundRect">
            <a:avLst>
              <a:gd name="adj" fmla="val 3636"/>
            </a:avLst>
          </a:prstGeom>
          <a:solidFill>
            <a:srgbClr val="DCE9EC"/>
          </a:solidFill>
          <a:ln/>
          <a:effectLst>
            <a:outerShdw sx="100000" sy="100000" kx="0" ky="0" algn="bl" rotWithShape="0" blurRad="101600" dist="38100" dir="5400000">
              <a:srgbClr val="6B7B7F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75120" y="420624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2E6B7E"/>
          </a:solidFill>
          <a:ln/>
        </p:spPr>
      </p:sp>
      <p:sp>
        <p:nvSpPr>
          <p:cNvPr id="21" name="Text 19"/>
          <p:cNvSpPr/>
          <p:nvPr/>
        </p:nvSpPr>
        <p:spPr>
          <a:xfrm>
            <a:off x="667512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15200" y="417880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Chequeos de robustez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675120" y="4846320"/>
            <a:ext cx="4251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PCA / Spectral Clustering (ARI=0,57) y un Naive Bayes sobre nombres (resultado negativo, honesto) — documentados en scripts/exploratorio/.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38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840480"/>
            <a:ext cx="5486400" cy="5486400"/>
          </a:xfrm>
          <a:prstGeom prst="ellipse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01168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144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20040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 de política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39776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significa esto para el diseño del régimen de partidos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38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F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HALLAZGO CENTRAL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51560" y="777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sistema de partidos colombiano es una pirámide, no un espectro ideológico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51560" y="1965960"/>
            <a:ext cx="2011680" cy="713232"/>
          </a:xfrm>
          <a:prstGeom prst="roundRect">
            <a:avLst>
              <a:gd name="adj" fmla="val 7692"/>
            </a:avLst>
          </a:prstGeom>
          <a:solidFill>
            <a:srgbClr val="C1440E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965960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Institucionalizados y nacionalizados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503920" y="1965960"/>
            <a:ext cx="914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1,8%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509760" y="1965960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 partidos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051560" y="2862072"/>
            <a:ext cx="4023360" cy="713232"/>
          </a:xfrm>
          <a:prstGeom prst="roundRect">
            <a:avLst>
              <a:gd name="adj" fmla="val 7692"/>
            </a:avLst>
          </a:prstGeom>
          <a:solidFill>
            <a:srgbClr val="2E6B7E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2862072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Ideológicos de espectro amplio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503920" y="2862072"/>
            <a:ext cx="914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21,3%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509760" y="2862072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1.095 partidos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051560" y="3758184"/>
            <a:ext cx="5669280" cy="713232"/>
          </a:xfrm>
          <a:prstGeom prst="roundRect">
            <a:avLst>
              <a:gd name="adj" fmla="val 7692"/>
            </a:avLst>
          </a:prstGeom>
          <a:solidFill>
            <a:srgbClr val="3E7E8F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3758184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Ideológicos locales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503920" y="3758184"/>
            <a:ext cx="914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37,6%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509760" y="3758184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1.931 partidos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051560" y="4654296"/>
            <a:ext cx="7315200" cy="713232"/>
          </a:xfrm>
          <a:prstGeom prst="roundRect">
            <a:avLst>
              <a:gd name="adj" fmla="val 7692"/>
            </a:avLst>
          </a:prstGeom>
          <a:solidFill>
            <a:srgbClr val="9FC2CC"/>
          </a:solidFill>
          <a:ln/>
        </p:spPr>
      </p:sp>
      <p:sp>
        <p:nvSpPr>
          <p:cNvPr id="17" name="Text 15"/>
          <p:cNvSpPr/>
          <p:nvPr/>
        </p:nvSpPr>
        <p:spPr>
          <a:xfrm>
            <a:off x="1188720" y="4654296"/>
            <a:ext cx="7040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3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institucionalizados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503920" y="4654296"/>
            <a:ext cx="914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39,4%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509760" y="4654296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2.024 partidos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051560" y="5623560"/>
            <a:ext cx="10058400" cy="868680"/>
          </a:xfrm>
          <a:prstGeom prst="roundRect">
            <a:avLst>
              <a:gd name="adj" fmla="val 8421"/>
            </a:avLst>
          </a:prstGeom>
          <a:solidFill>
            <a:srgbClr val="1F4E5F"/>
          </a:solidFill>
          <a:ln/>
        </p:spPr>
      </p:sp>
      <p:sp>
        <p:nvSpPr>
          <p:cNvPr id="21" name="Text 19"/>
          <p:cNvSpPr/>
          <p:nvPr/>
        </p:nvSpPr>
        <p:spPr>
          <a:xfrm>
            <a:off x="1325880" y="5623560"/>
            <a:ext cx="9509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el 1,8% opera de forma consistente en varios niveles a la vez; el 98,2% restante es local o marginal. El segundo nivel (votos reales) corrobora el patrón: el 4,8% de los partidos genuinos concentra el grueso del respaldo electoral.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POLÍTICA PÚBLICA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51560" y="73152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¿Funcionaron las reformas de 2003 y 2011?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1051560" y="1737360"/>
          <a:ext cx="69494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229600" y="1737360"/>
            <a:ext cx="2926080" cy="4206240"/>
          </a:xfrm>
          <a:prstGeom prst="roundRect">
            <a:avLst>
              <a:gd name="adj" fmla="val 2500"/>
            </a:avLst>
          </a:prstGeom>
          <a:solidFill>
            <a:srgbClr val="FBEDE8"/>
          </a:solidFill>
          <a:ln/>
          <a:effectLst>
            <a:outerShdw sx="100000" sy="100000" kx="0" ky="0" algn="bl" rotWithShape="0" blurRad="101600" dist="38100" dir="5400000">
              <a:srgbClr val="6B7B7F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458200" y="19659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44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14,4% → 1,2%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458200" y="256032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caída en la probabilidad de que un partido nuevo se institucionalice, de antes de la Constitución de 1991 a después de la Ley 1475/2011.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458200" y="4114800"/>
            <a:ext cx="2468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2E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Mientras tanto, los partidos nuevos por periodo pasaron de 395 (2003–2011) a 1.097 (2011–2023): la proliferación se aceleró, no se frenó.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POLÍTICA PÚBLICA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51560" y="73152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Cuatro implicaciones para el diseño del régimen de partidos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1560" y="1737360"/>
            <a:ext cx="4709160" cy="2011680"/>
          </a:xfrm>
          <a:prstGeom prst="roundRect">
            <a:avLst>
              <a:gd name="adj" fmla="val 3636"/>
            </a:avLst>
          </a:prstGeom>
          <a:solidFill>
            <a:srgbClr val="DCE9EC"/>
          </a:solidFill>
          <a:ln/>
          <a:effectLst>
            <a:outerShdw sx="100000" sy="100000" kx="0" ky="0" algn="bl" rotWithShape="0" blurRad="101600" dist="38100" dir="5400000">
              <a:srgbClr val="6B7B7F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80160" y="190195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6B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280160" y="260604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Umbrales de personería jurídica multinivel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280160" y="3017520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Exigir desempeño en más de un nivel, no solo votación mínima en una elección puntual — el 98,2% no alcanzaría ese estándar bajo el criterio actual.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46520" y="1737360"/>
            <a:ext cx="4709160" cy="2011680"/>
          </a:xfrm>
          <a:prstGeom prst="roundRect">
            <a:avLst>
              <a:gd name="adj" fmla="val 3636"/>
            </a:avLst>
          </a:prstGeom>
          <a:solidFill>
            <a:srgbClr val="DCE9EC"/>
          </a:solidFill>
          <a:ln/>
          <a:effectLst>
            <a:outerShdw sx="100000" sy="100000" kx="0" ky="0" algn="bl" rotWithShape="0" blurRad="101600" dist="38100" dir="5400000">
              <a:srgbClr val="6B7B7F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75120" y="190195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6B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675120" y="260604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Financiación estatal por amplitud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675120" y="3017520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Ponderar por número de niveles donde compite el partido, no solo por votos totales, para desincentivar organizaciones de un solo uso.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051560" y="3977640"/>
            <a:ext cx="4709160" cy="2011680"/>
          </a:xfrm>
          <a:prstGeom prst="roundRect">
            <a:avLst>
              <a:gd name="adj" fmla="val 3636"/>
            </a:avLst>
          </a:prstGeom>
          <a:solidFill>
            <a:srgbClr val="DCE9EC"/>
          </a:solidFill>
          <a:ln/>
          <a:effectLst>
            <a:outerShdw sx="100000" sy="100000" kx="0" ky="0" algn="bl" rotWithShape="0" blurRad="101600" dist="38100" dir="5400000">
              <a:srgbClr val="6B7B7F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280160" y="414223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6B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280160" y="484632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Instrumento de monitoreo periódico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280160" y="5257800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tipología permite a la Registraduría y al CNE medir si cada reforma reduce o acelera la proliferación de partidos no institucionalizados.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46520" y="3977640"/>
            <a:ext cx="4709160" cy="2011680"/>
          </a:xfrm>
          <a:prstGeom prst="roundRect">
            <a:avLst>
              <a:gd name="adj" fmla="val 3636"/>
            </a:avLst>
          </a:prstGeom>
          <a:solidFill>
            <a:srgbClr val="1F4E5F"/>
          </a:solidFill>
          <a:ln/>
          <a:effectLst>
            <a:outerShdw sx="100000" sy="100000" kx="0" ky="0" algn="bl" rotWithShape="0" blurRad="101600" dist="38100" dir="5400000">
              <a:srgbClr val="6B7B7F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75120" y="414223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144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675120" y="484632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descriptivo, no automático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675120" y="5257800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Insumo para el diseño de reglas — no un criterio automático de cancelación de personería jurídica.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638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669280" cy="5669280"/>
          </a:xfrm>
          <a:prstGeom prst="ellipse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3774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3337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y discusión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4434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Andrez Felipe Guerrero Torres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4800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github.com/andrezconz/curso-machine-learning-2026-tf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2026-07-14T03:06:06Z</dcterms:created>
  <dcterms:modified xsi:type="dcterms:W3CDTF">2026-07-14T03:06:06Z</dcterms:modified>
</cp:coreProperties>
</file>